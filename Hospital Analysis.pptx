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  <Relationship Id='rId19' Target='slides/slide14.xml' Type='http://schemas.openxmlformats.org/officeDocument/2006/relationships/slide' />
  <Relationship Id='rId20' Target='slides/slide15.xml' Type='http://schemas.openxmlformats.org/officeDocument/2006/relationships/slide' />
  <Relationship Id='rId21' Target='slides/slide16.xml' Type='http://schemas.openxmlformats.org/officeDocument/2006/relationships/slide' />
  <Relationship Id='rId22' Target='slides/slide17.xml' Type='http://schemas.openxmlformats.org/officeDocument/2006/relationships/slide' />
  <Relationship Id='rId23' Target='slides/slide18.xml' Type='http://schemas.openxmlformats.org/officeDocument/2006/relationships/slide' />
  <Relationship Id='rId24' Target='slides/slide19.xml' Type='http://schemas.openxmlformats.org/officeDocument/2006/relationships/slide' />
  <Relationship Id='rId25' Target='slides/slide20.xml' Type='http://schemas.openxmlformats.org/officeDocument/2006/relationships/slide' />
  <Relationship Id='rId26' Target='slides/slide21.xml' Type='http://schemas.openxmlformats.org/officeDocument/2006/relationships/slide' />
  <Relationship Id='rId27' Target='slides/slide22.xml' Type='http://schemas.openxmlformats.org/officeDocument/2006/relationships/slide' />
  <Relationship Id='rId28' Target='slides/slide23.xml' Type='http://schemas.openxmlformats.org/officeDocument/2006/relationships/slide' />
  <Relationship Id='rId29' Target='slides/slide24.xml' Type='http://schemas.openxmlformats.org/officeDocument/2006/relationships/slide' />
  <Relationship Id='rId30' Target='slides/slide25.xml' Type='http://schemas.openxmlformats.org/officeDocument/2006/relationships/slide' />
  <Relationship Id='rId31' Target='slides/slide26.xml' Type='http://schemas.openxmlformats.org/officeDocument/2006/relationships/slide' />
  <Relationship Id='rId32' Target='slides/slide27.xml' Type='http://schemas.openxmlformats.org/officeDocument/2006/relationships/slide' />
  <Relationship Id='rId33' Target='slides/slide28.xml' Type='http://schemas.openxmlformats.org/officeDocument/2006/relationships/slide' />
  <Relationship Id='rId34' Target='slides/slide29.xml' Type='http://schemas.openxmlformats.org/officeDocument/2006/relationships/slide' />
  <Relationship Id='rId35' Target='slides/slide30.xml' Type='http://schemas.openxmlformats.org/officeDocument/2006/relationships/slide' />
  <Relationship Id='rId36' Target='slides/slide31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1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9' Target='../media/image13.png' Type='http://schemas.openxmlformats.org/officeDocument/2006/relationships/image' />
</Relationships>

</file>

<file path=ppt/slides/_rels/slide1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0' Target='../media/image14.png' Type='http://schemas.openxmlformats.org/officeDocument/2006/relationships/image' />
</Relationships>

</file>

<file path=ppt/slides/_rels/slide1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1' Target='../media/image15.png' Type='http://schemas.openxmlformats.org/officeDocument/2006/relationships/image' />
</Relationships>

</file>

<file path=ppt/slides/_rels/slide1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2' Target='../media/image16.png' Type='http://schemas.openxmlformats.org/officeDocument/2006/relationships/image' />
</Relationships>

</file>

<file path=ppt/slides/_rels/slide1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3' Target='../media/image17.png' Type='http://schemas.openxmlformats.org/officeDocument/2006/relationships/image' />
</Relationships>

</file>

<file path=ppt/slides/_rels/slide1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4' Target='../media/image18.png' Type='http://schemas.openxmlformats.org/officeDocument/2006/relationships/image' />
</Relationships>

</file>

<file path=ppt/slides/_rels/slide2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5' Target='../media/image19.png' Type='http://schemas.openxmlformats.org/officeDocument/2006/relationships/image' />
</Relationships>

</file>

<file path=ppt/slides/_rels/slide2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6' Target='../media/image20.png' Type='http://schemas.openxmlformats.org/officeDocument/2006/relationships/image' />
</Relationships>

</file>

<file path=ppt/slides/_rels/slide2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7' Target='../media/image21.png' Type='http://schemas.openxmlformats.org/officeDocument/2006/relationships/image' />
</Relationships>

</file>

<file path=ppt/slides/_rels/slide2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8' Target='../media/image22.png' Type='http://schemas.openxmlformats.org/officeDocument/2006/relationships/image' />
</Relationships>

</file>

<file path=ppt/slides/_rels/slide2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9' Target='../media/image23.png' Type='http://schemas.openxmlformats.org/officeDocument/2006/relationships/image' />
</Relationships>

</file>

<file path=ppt/slides/_rels/slide2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0' Target='../media/image24.png' Type='http://schemas.openxmlformats.org/officeDocument/2006/relationships/image' />
</Relationships>

</file>

<file path=ppt/slides/_rels/slide2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1' Target='../media/image25.png' Type='http://schemas.openxmlformats.org/officeDocument/2006/relationships/image' />
</Relationships>

</file>

<file path=ppt/slides/_rels/slide2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2' Target='../media/image26.png' Type='http://schemas.openxmlformats.org/officeDocument/2006/relationships/image' />
</Relationships>

</file>

<file path=ppt/slides/_rels/slide2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3' Target='../media/image27.png' Type='http://schemas.openxmlformats.org/officeDocument/2006/relationships/image' />
</Relationships>

</file>

<file path=ppt/slides/_rels/slide2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4' Target='../media/image28.png' Type='http://schemas.openxmlformats.org/officeDocument/2006/relationships/image' />
</Relationships>

</file>

<file path=ppt/slides/_rels/slide3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5' Target='../media/image29.png' Type='http://schemas.openxmlformats.org/officeDocument/2006/relationships/image' />
</Relationships>

</file>

<file path=ppt/slides/_rels/slide3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36' Target='../media/image30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A1FC6835-2952-4837-A783-CA61881E59A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Hospital Analysis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626D06E3-F2D5-4138-B909-AC32AB99F026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13-10-2025 22:23:10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orkbook Introduction" id="2" name="slide2">
            <a:extLst>
              <a:ext uri="{FF2B5EF4-FFF2-40B4-BE49-F238E27FC236}">
                <a16:creationId xmlns:a16="http://schemas.microsoft.com/office/drawing/2014/main" id="{B1531DD5-8D8D-4BAA-BFAF-B573A6FA3D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umber of Patient Visits by Department (Bar Chart)" id="3" name="slide3">
            <a:extLst>
              <a:ext uri="{FF2B5EF4-FFF2-40B4-BE49-F238E27FC236}">
                <a16:creationId xmlns:a16="http://schemas.microsoft.com/office/drawing/2014/main" id="{408F7576-BADF-4DB4-A5F5-D3D10D07E1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850" y="1509712"/>
            <a:ext cx="925830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spital Patient Visits Summary " id="4" name="slide4">
            <a:extLst>
              <a:ext uri="{FF2B5EF4-FFF2-40B4-BE49-F238E27FC236}">
                <a16:creationId xmlns:a16="http://schemas.microsoft.com/office/drawing/2014/main" id="{D6AE211E-D151-43E9-9A69-8EB7A20853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ient Risk &amp;amp; Outcomes Dashboard" id="5" name="slide5">
            <a:extLst>
              <a:ext uri="{FF2B5EF4-FFF2-40B4-BE49-F238E27FC236}">
                <a16:creationId xmlns:a16="http://schemas.microsoft.com/office/drawing/2014/main" id="{347238E7-C093-44DA-8AFA-AB6BC03057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Department Dashboard" id="6" name="slide6">
            <a:extLst>
              <a:ext uri="{FF2B5EF4-FFF2-40B4-BE49-F238E27FC236}">
                <a16:creationId xmlns:a16="http://schemas.microsoft.com/office/drawing/2014/main" id="{623FD7F8-1E78-4BD5-B356-41DBEF23941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Per Department (Bullet Chart)" id="7" name="slide7">
            <a:extLst>
              <a:ext uri="{FF2B5EF4-FFF2-40B4-BE49-F238E27FC236}">
                <a16:creationId xmlns:a16="http://schemas.microsoft.com/office/drawing/2014/main" id="{585AD533-5EDA-4CC8-802E-F7D9D4CF4AD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615" y="0"/>
            <a:ext cx="85127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ear over Year Revenue (Bar-in-Bar)" id="8" name="slide8">
            <a:extLst>
              <a:ext uri="{FF2B5EF4-FFF2-40B4-BE49-F238E27FC236}">
                <a16:creationId xmlns:a16="http://schemas.microsoft.com/office/drawing/2014/main" id="{263475DF-F62D-409B-A426-467E617BB9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75" y="123825"/>
            <a:ext cx="10687050" cy="661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ear over Year Revenue (Bar-in-Bar) (2)" id="9" name="slide9">
            <a:extLst>
              <a:ext uri="{FF2B5EF4-FFF2-40B4-BE49-F238E27FC236}">
                <a16:creationId xmlns:a16="http://schemas.microsoft.com/office/drawing/2014/main" id="{96730DEB-5B3F-4FEF-A34D-EF4C7A8674B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882" y="0"/>
            <a:ext cx="10362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U and Neonatal" id="10" name="slide10">
            <a:extLst>
              <a:ext uri="{FF2B5EF4-FFF2-40B4-BE49-F238E27FC236}">
                <a16:creationId xmlns:a16="http://schemas.microsoft.com/office/drawing/2014/main" id="{29199B80-8EF0-4CD3-82D3-D9ABEE9FD9A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475" y="1176337"/>
            <a:ext cx="9163050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ilt-in Date Hierarchy" id="11" name="slide11">
            <a:extLst>
              <a:ext uri="{FF2B5EF4-FFF2-40B4-BE49-F238E27FC236}">
                <a16:creationId xmlns:a16="http://schemas.microsoft.com/office/drawing/2014/main" id="{84B58A1B-E901-4A02-ADA1-816143EAF5B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150" y="295275"/>
            <a:ext cx="2171700" cy="626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te Parts" id="12" name="slide12">
            <a:extLst>
              <a:ext uri="{FF2B5EF4-FFF2-40B4-BE49-F238E27FC236}">
                <a16:creationId xmlns:a16="http://schemas.microsoft.com/office/drawing/2014/main" id="{EE6849B3-E1E2-4706-8AD3-27FE2DDD3A2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850" y="738187"/>
            <a:ext cx="925830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te Values" id="13" name="slide13">
            <a:extLst>
              <a:ext uri="{FF2B5EF4-FFF2-40B4-BE49-F238E27FC236}">
                <a16:creationId xmlns:a16="http://schemas.microsoft.com/office/drawing/2014/main" id="{DDBED72B-E052-4E30-BA27-DDA83D16FA9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850" y="738187"/>
            <a:ext cx="925830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umber of Patient Visits Over Time" id="14" name="slide14">
            <a:extLst>
              <a:ext uri="{FF2B5EF4-FFF2-40B4-BE49-F238E27FC236}">
                <a16:creationId xmlns:a16="http://schemas.microsoft.com/office/drawing/2014/main" id="{DA7030F7-65E5-4AA8-BA81-CC1336D2BCF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637" y="471487"/>
            <a:ext cx="4276725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ient Admissions by Day (Heat Map)" id="15" name="slide15">
            <a:extLst>
              <a:ext uri="{FF2B5EF4-FFF2-40B4-BE49-F238E27FC236}">
                <a16:creationId xmlns:a16="http://schemas.microsoft.com/office/drawing/2014/main" id="{D4F1CD63-1023-44EF-87C4-FB5E9B1AA77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12" y="857250"/>
            <a:ext cx="1069657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ient Admissions by Day (Heat Map) (2)" id="16" name="slide16">
            <a:extLst>
              <a:ext uri="{FF2B5EF4-FFF2-40B4-BE49-F238E27FC236}">
                <a16:creationId xmlns:a16="http://schemas.microsoft.com/office/drawing/2014/main" id="{04DF29DF-5B00-4C8F-AD37-4F733442FAD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12" y="857250"/>
            <a:ext cx="1069657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ient Visits (Gantt Chart)" id="17" name="slide17">
            <a:extLst>
              <a:ext uri="{FF2B5EF4-FFF2-40B4-BE49-F238E27FC236}">
                <a16:creationId xmlns:a16="http://schemas.microsoft.com/office/drawing/2014/main" id="{20CCC2D3-5B8F-452A-AE6F-63EB2806608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525" y="0"/>
            <a:ext cx="68694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ient Risk " id="18" name="slide18">
            <a:extLst>
              <a:ext uri="{FF2B5EF4-FFF2-40B4-BE49-F238E27FC236}">
                <a16:creationId xmlns:a16="http://schemas.microsoft.com/office/drawing/2014/main" id="{F0057C9E-D9C3-4CCD-B3D0-A3B3AE71615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75" y="695325"/>
            <a:ext cx="10687050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ient Risk (Percent per Department Type)" id="19" name="slide19">
            <a:extLst>
              <a:ext uri="{FF2B5EF4-FFF2-40B4-BE49-F238E27FC236}">
                <a16:creationId xmlns:a16="http://schemas.microsoft.com/office/drawing/2014/main" id="{BE30F11B-2187-4BF7-9CCD-24EBBC04B66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475" y="2205037"/>
            <a:ext cx="9163050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ient Risk (side-by side views)" id="20" name="slide20">
            <a:extLst>
              <a:ext uri="{FF2B5EF4-FFF2-40B4-BE49-F238E27FC236}">
                <a16:creationId xmlns:a16="http://schemas.microsoft.com/office/drawing/2014/main" id="{9C7945DC-7812-46D7-B259-603D51F2118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75" y="1624012"/>
            <a:ext cx="1068705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ys in the Hospital" id="21" name="slide21">
            <a:extLst>
              <a:ext uri="{FF2B5EF4-FFF2-40B4-BE49-F238E27FC236}">
                <a16:creationId xmlns:a16="http://schemas.microsoft.com/office/drawing/2014/main" id="{3426C4E6-6C4C-40F0-8368-E02BAFBA8E9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287" y="571500"/>
            <a:ext cx="911542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ys in the Hospital (by branch)" id="22" name="slide22">
            <a:extLst>
              <a:ext uri="{FF2B5EF4-FFF2-40B4-BE49-F238E27FC236}">
                <a16:creationId xmlns:a16="http://schemas.microsoft.com/office/drawing/2014/main" id="{E8813A6A-5F43-45D0-9A9A-9193125C1FA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723900"/>
            <a:ext cx="96012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ient Visits over Time (area chart)" id="23" name="slide23">
            <a:extLst>
              <a:ext uri="{FF2B5EF4-FFF2-40B4-BE49-F238E27FC236}">
                <a16:creationId xmlns:a16="http://schemas.microsoft.com/office/drawing/2014/main" id="{94B52558-2D74-4177-9ED3-10EFF0D839C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475" y="633412"/>
            <a:ext cx="9163050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ient Visits over Time (area chart - percent of total)" id="24" name="slide24">
            <a:extLst>
              <a:ext uri="{FF2B5EF4-FFF2-40B4-BE49-F238E27FC236}">
                <a16:creationId xmlns:a16="http://schemas.microsoft.com/office/drawing/2014/main" id="{74EA0DF3-F20D-4AF4-BC5B-08EDFF3B32C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475" y="709612"/>
            <a:ext cx="9163050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by Hospital Branch (Pie Chart)" id="25" name="slide25">
            <a:extLst>
              <a:ext uri="{FF2B5EF4-FFF2-40B4-BE49-F238E27FC236}">
                <a16:creationId xmlns:a16="http://schemas.microsoft.com/office/drawing/2014/main" id="{D0F2B1B1-1E59-4843-BE7E-ADC8D68B2A82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475" y="481012"/>
            <a:ext cx="9163050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verage Length of Stay by Doctor" id="26" name="slide26">
            <a:extLst>
              <a:ext uri="{FF2B5EF4-FFF2-40B4-BE49-F238E27FC236}">
                <a16:creationId xmlns:a16="http://schemas.microsoft.com/office/drawing/2014/main" id="{1CF9ED06-A53F-4177-A78D-0626EBD87050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75" y="652462"/>
            <a:ext cx="10687050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verage Length of Stay by Doctor (jittering)" id="27" name="slide27">
            <a:extLst>
              <a:ext uri="{FF2B5EF4-FFF2-40B4-BE49-F238E27FC236}">
                <a16:creationId xmlns:a16="http://schemas.microsoft.com/office/drawing/2014/main" id="{0E35BBA5-23D2-4A06-904A-DC4E6634B2B0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712" y="785812"/>
            <a:ext cx="9172575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verage Length of Stay by Doctor (Box Plot)" id="28" name="slide28">
            <a:extLst>
              <a:ext uri="{FF2B5EF4-FFF2-40B4-BE49-F238E27FC236}">
                <a16:creationId xmlns:a16="http://schemas.microsoft.com/office/drawing/2014/main" id="{7F13C639-750B-4AD6-8F48-BBF416EAA506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475" y="323850"/>
            <a:ext cx="9163050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inutes to Service (histogram)" id="29" name="slide29">
            <a:extLst>
              <a:ext uri="{FF2B5EF4-FFF2-40B4-BE49-F238E27FC236}">
                <a16:creationId xmlns:a16="http://schemas.microsoft.com/office/drawing/2014/main" id="{328C6641-DF90-4BD2-BD5B-92C442E7F72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900" y="652462"/>
            <a:ext cx="5410200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 and Patient Visits by Department" id="30" name="slide30">
            <a:extLst>
              <a:ext uri="{FF2B5EF4-FFF2-40B4-BE49-F238E27FC236}">
                <a16:creationId xmlns:a16="http://schemas.microsoft.com/office/drawing/2014/main" id="{AD1F4A35-54A9-41B4-BB27-15EB0A5F8745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850" y="795337"/>
            <a:ext cx="9258300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umber of Patient Visits (Combination Chart)" id="31" name="slide31">
            <a:extLst>
              <a:ext uri="{FF2B5EF4-FFF2-40B4-BE49-F238E27FC236}">
                <a16:creationId xmlns:a16="http://schemas.microsoft.com/office/drawing/2014/main" id="{B5D2689C-631A-4526-82A7-73F601606D6B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712" y="404812"/>
            <a:ext cx="9172575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31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2025-10-14T02:23:13Z</dcterms:created>
  <dcterms:modified xsi:type="dcterms:W3CDTF">2025-10-14T02:23:13Z</dcterms:modified>
</cp:coreProperties>
</file>